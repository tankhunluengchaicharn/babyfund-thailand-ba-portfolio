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3dee129a7ac4108" Type="http://schemas.openxmlformats.org/officeDocument/2006/relationships/officeDocument" Target="ppt/presentation.xml"/><Relationship Id="R293ed501840b484b" Type="http://schemas.openxmlformats.org/package/2006/relationships/metadata/core-properties" Target="docProps/core.xml"/><Relationship Id="R366f1174b4b940ff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307db61345400c"/>
  </p:sldMasterIdLst>
  <p:notesMasterIdLst>
    <p:notesMasterId xmlns:r="http://schemas.openxmlformats.org/officeDocument/2006/relationships" r:id="Ra28dbee3bd96414d"/>
  </p:notesMasterIdLst>
  <p:sldIdLst>
    <p:sldId xmlns:r="http://schemas.openxmlformats.org/officeDocument/2006/relationships" id="256" r:id="R19c9617422e04463"/>
    <p:sldId xmlns:r="http://schemas.openxmlformats.org/officeDocument/2006/relationships" id="257" r:id="Rff9cc200f0924858"/>
    <p:sldId xmlns:r="http://schemas.openxmlformats.org/officeDocument/2006/relationships" id="258" r:id="R6abdde939a3246f8"/>
    <p:sldId xmlns:r="http://schemas.openxmlformats.org/officeDocument/2006/relationships" id="259" r:id="Ra6957a94b9054f7e"/>
    <p:sldId xmlns:r="http://schemas.openxmlformats.org/officeDocument/2006/relationships" id="260" r:id="R2416cc5c720744b9"/>
    <p:sldId xmlns:r="http://schemas.openxmlformats.org/officeDocument/2006/relationships" id="261" r:id="R9d183630fa134994"/>
    <p:sldId xmlns:r="http://schemas.openxmlformats.org/officeDocument/2006/relationships" id="262" r:id="Rb13c3d0e11a94015"/>
    <p:sldId xmlns:r="http://schemas.openxmlformats.org/officeDocument/2006/relationships" id="263" r:id="R5a99359138ea4254"/>
    <p:sldId xmlns:r="http://schemas.openxmlformats.org/officeDocument/2006/relationships" id="264" r:id="R76cad632221741df"/>
    <p:sldId xmlns:r="http://schemas.openxmlformats.org/officeDocument/2006/relationships" id="265" r:id="R65b371f3ff784b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0307db61345400c" Type="http://schemas.openxmlformats.org/officeDocument/2006/relationships/slideMaster" Target="slideMasters/slideMaster1.xml"/><Relationship Id="R19c9617422e04463" Type="http://schemas.openxmlformats.org/officeDocument/2006/relationships/slide" Target="slides/slide1.xml"/><Relationship Id="R2416cc5c720744b9" Type="http://schemas.openxmlformats.org/officeDocument/2006/relationships/slide" Target="slides/slide5.xml"/><Relationship Id="R5a99359138ea4254" Type="http://schemas.openxmlformats.org/officeDocument/2006/relationships/slide" Target="slides/slide8.xml"/><Relationship Id="R5eceb47a00ec4981" Type="http://schemas.openxmlformats.org/officeDocument/2006/relationships/theme" Target="theme/theme1.xml"/><Relationship Id="R65b371f3ff784b8c" Type="http://schemas.openxmlformats.org/officeDocument/2006/relationships/slide" Target="slides/slide10.xml"/><Relationship Id="R6a3578ff5ccb468d" Type="http://schemas.openxmlformats.org/officeDocument/2006/relationships/presProps" Target="presProps.xml"/><Relationship Id="R6abdde939a3246f8" Type="http://schemas.openxmlformats.org/officeDocument/2006/relationships/slide" Target="slides/slide3.xml"/><Relationship Id="R76cad632221741df" Type="http://schemas.openxmlformats.org/officeDocument/2006/relationships/slide" Target="slides/slide9.xml"/><Relationship Id="R9d183630fa134994" Type="http://schemas.openxmlformats.org/officeDocument/2006/relationships/slide" Target="slides/slide6.xml"/><Relationship Id="Ra28dbee3bd96414d" Type="http://schemas.openxmlformats.org/officeDocument/2006/relationships/notesMaster" Target="notesMasters/notesMaster1.xml"/><Relationship Id="Ra6957a94b9054f7e" Type="http://schemas.openxmlformats.org/officeDocument/2006/relationships/slide" Target="slides/slide4.xml"/><Relationship Id="Rb13c3d0e11a94015" Type="http://schemas.openxmlformats.org/officeDocument/2006/relationships/slide" Target="slides/slide7.xml"/><Relationship Id="Rc101798ea69b4ed2" Type="http://schemas.openxmlformats.org/officeDocument/2006/relationships/tableStyles" Target="tableStyles.xml"/><Relationship Id="Rff9cc200f092485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f419e968d6c14d0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39fdef5cc644a3b" Type="http://schemas.openxmlformats.org/officeDocument/2006/relationships/slide" Target="../slides/slide1.xml"/><Relationship Id="R0d8fea59e613413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1f8634e6f40048aa" Type="http://schemas.openxmlformats.org/officeDocument/2006/relationships/notesMaster" Target="../notesMasters/notesMaster1.xml"/><Relationship Id="Rdd29b19250a14d99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21e7aaad5da247bd" Type="http://schemas.openxmlformats.org/officeDocument/2006/relationships/slide" Target="../slides/slide3.xml"/><Relationship Id="R978b51f708974af9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1efc43329c684e88" Type="http://schemas.openxmlformats.org/officeDocument/2006/relationships/notesMaster" Target="../notesMasters/notesMaster1.xml"/><Relationship Id="Rb42d84ce14504270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048c9bac0e2a4d3a" Type="http://schemas.openxmlformats.org/officeDocument/2006/relationships/notesMaster" Target="../notesMasters/notesMaster1.xml"/><Relationship Id="R8df7d95c855a4bdc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84d100280cec4f6c" Type="http://schemas.openxmlformats.org/officeDocument/2006/relationships/slide" Target="../slides/slide6.xml"/><Relationship Id="Reac948cdab0f4e00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09576f97cd2f48b4" Type="http://schemas.openxmlformats.org/officeDocument/2006/relationships/slide" Target="../slides/slide7.xml"/><Relationship Id="R9aafb3e9100e456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c8461a6cd8954d32" Type="http://schemas.openxmlformats.org/officeDocument/2006/relationships/notesMaster" Target="../notesMasters/notesMaster1.xml"/><Relationship Id="Red7f6f2c22bc4123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122f595403514aeb" Type="http://schemas.openxmlformats.org/officeDocument/2006/relationships/notesMaster" Target="../notesMasters/notesMaster1.xml"/><Relationship Id="Ra10e506591d44dbc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384a44117cc641b3" Type="http://schemas.openxmlformats.org/officeDocument/2006/relationships/slide" Target="../slides/slide10.xml"/><Relationship Id="Rd081c263d519466f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simulated case study, not an operating investment service. No broker or payment partner is appointed.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and demand are hypotheses. Thai gift occasions are owner observations, not research findings.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Option A is the selected conceptual sequence. Actual guest-to-provider payment, payer checks and investment confirmation need partner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example hypothetically spends the one pooled THB 100,000 in priority order. It is not a forecast, earmark, legal allocation or actual redemption.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split is a proposed responsibility model, not a confirmed legal exemption or signed partner contract.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https://dime.co.th/th/articles/sa-what-is-sa ; https://dime.co.th/th/articles/how-to-use-my-ports ; https://www.keptbykrungsri.com/together-savings ; https://www.unest.co/faq . Confirm current features before external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Reproducible formula: FV=P*((1+r/12)^n-1)/(r/12), with P=1500 and n=240. At r=0, FV=P*n. Principal is THB 360,000. Exact months depend on child date of birth and goal 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conversion, pricing, 0.25% partner fee, 20% share, licence and annual cost inputs are invented sensitivities. UNest separately publishes a 0.25% annual management fee (https://www.unest.co/faq); that does not establish an applicable Thai rate. The THB 50,000 fee is partner level (0.25% of THB 20m AUM). BabyFund has no entitlement without legal and contract review. THB 18.63m charter delivery budget is a separate number.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14 blocks come from the original portfolio plan. Sponsor, partner, legal/payment feasibility, funding and user validation would determine any real dates. UAT has not been executed.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portfolio contains 12 revised deliverables and one calculation workbook. No partner, user validation, executed UAT or live integration exists.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d5b8b60cbf59431c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21de975eb88a471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f5072caf66014357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0a3c50cce20f493b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ab45678f7fe84db2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671a4471752942e8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C3E56A-6C23-41C3-8992-3C066B431C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B901F26-6D37-4E11-A270-0C196E7D05B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F66B829-B68D-4125-91B5-998958101A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A0C3E3-EAE2-4AAC-89EE-16BA0C975F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D744D8A-5527-4504-A8AD-04401B023F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88EEB9F-71D5-4B7C-A513-65198A54D1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05D28EA-5092-4F4F-927F-81DDB1A9B1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46907D4-7EA1-489A-A067-5CED6BE465A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D20D6A-2C18-4563-8352-96E7FC4D84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B750F5-29C2-4057-8119-4CD7840FDC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926a903280d4c45" Type="http://schemas.openxmlformats.org/officeDocument/2006/relationships/slideLayout" Target="../slideLayouts/slideLayout3.xml"/><Relationship Id="R24ab0abb99b24e3f" Type="http://schemas.openxmlformats.org/officeDocument/2006/relationships/slideLayout" Target="../slideLayouts/slideLayout6.xml"/><Relationship Id="R28be97ffd6ea4389" Type="http://schemas.openxmlformats.org/officeDocument/2006/relationships/slideLayout" Target="../slideLayouts/slideLayout4.xml"/><Relationship Id="R5e4377146bdf48a6" Type="http://schemas.openxmlformats.org/officeDocument/2006/relationships/theme" Target="theme/theme2.xml"/><Relationship Id="R625284dc19a54935" Type="http://schemas.openxmlformats.org/officeDocument/2006/relationships/slideLayout" Target="../slideLayouts/slideLayout5.xml"/><Relationship Id="R86b76327b8f14a5b" Type="http://schemas.openxmlformats.org/officeDocument/2006/relationships/slideLayout" Target="../slideLayouts/slideLayout2.xml"/><Relationship Id="Rf07e364406ad4d0b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7e364406ad4d0b"/>
    <p:sldLayoutId xmlns:r="http://schemas.openxmlformats.org/officeDocument/2006/relationships" id="2147483650" r:id="R86b76327b8f14a5b"/>
    <p:sldLayoutId xmlns:r="http://schemas.openxmlformats.org/officeDocument/2006/relationships" id="2147483651" r:id="R0926a903280d4c45"/>
    <p:sldLayoutId xmlns:r="http://schemas.openxmlformats.org/officeDocument/2006/relationships" id="2147483652" r:id="R28be97ffd6ea4389"/>
    <p:sldLayoutId xmlns:r="http://schemas.openxmlformats.org/officeDocument/2006/relationships" id="2147483653" r:id="R625284dc19a54935"/>
    <p:sldLayoutId xmlns:r="http://schemas.openxmlformats.org/officeDocument/2006/relationships" id="2147483654" r:id="R24ab0abb99b24e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2d4114ed0fd4312" Type="http://schemas.openxmlformats.org/officeDocument/2006/relationships/slideLayout" Target="../slideLayouts/slideLayout6.xml"/><Relationship Id="R3b4cb4e992b7406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8b03d4a51384413d" Type="http://schemas.openxmlformats.org/officeDocument/2006/relationships/notesSlide" Target="../notesSlides/notesSlide2.xml"/><Relationship Id="Rf7c31bf1fe3e48c6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0501c7baccf14a18" Type="http://schemas.openxmlformats.org/officeDocument/2006/relationships/notesSlide" Target="../notesSlides/notesSlide3.xml"/><Relationship Id="Rb583510023f34b2d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850e55199c774f2f" Type="http://schemas.openxmlformats.org/officeDocument/2006/relationships/notesSlide" Target="../notesSlides/notesSlide4.xml"/><Relationship Id="Rd7ecead451724adb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8bbacb81468343f6" Type="http://schemas.openxmlformats.org/officeDocument/2006/relationships/slideLayout" Target="../slideLayouts/slideLayout6.xml"/><Relationship Id="Re1d53713b26a430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37fcab90139547a9" Type="http://schemas.openxmlformats.org/officeDocument/2006/relationships/slideLayout" Target="../slideLayouts/slideLayout6.xml"/><Relationship Id="R6e5975cb48d34e31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85748efd6f574aa4" Type="http://schemas.openxmlformats.org/officeDocument/2006/relationships/notesSlide" Target="../notesSlides/notesSlide7.xml"/><Relationship Id="R8888b25c8f1c4dd6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19db3740ccec45cd" Type="http://schemas.openxmlformats.org/officeDocument/2006/relationships/slideLayout" Target="../slideLayouts/slideLayout6.xml"/><Relationship Id="Raf8c5e4bd6ea433a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29aef5a7ad444a80" Type="http://schemas.openxmlformats.org/officeDocument/2006/relationships/notesSlide" Target="../notesSlides/notesSlide9.xml"/><Relationship Id="Raef5e96312604232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51347038c4424aae" Type="http://schemas.openxmlformats.org/officeDocument/2006/relationships/slideLayout" Target="../slideLayouts/slideLayout6.xml"/><Relationship Id="R6fb637d76bed4e6c" Type="http://schemas.openxmlformats.org/officeDocument/2006/relationships/notesSlide" Target="../notesSlides/notesSlide1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2D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0EF8C-4723-45CF-956D-8380D762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BabyFund Thailand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165D4-7C1E-43F5-AB02-C5CBA4F7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DDE8F5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DDE8F5"/>
                </a:solidFill>
              </a:defRPr>
            </a:pPr>
            <a:r>
              <a:rPr sz="2250" b="0">
                <a:solidFill>
                  <a:srgbClr val="DDE8F5"/>
                </a:solidFill>
                <a:latin typeface="Arial"/>
                <a:ea typeface="Arial"/>
                <a:cs typeface="Arial"/>
              </a:rPr>
              <a:t>A family contribution journey for a child’s future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CEAB3-6B78-464E-BB0C-F13D25C6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D6A332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D6A332"/>
                </a:solidFill>
              </a:defRPr>
            </a:pPr>
            <a:r>
              <a:rPr sz="1650" b="1">
                <a:solidFill>
                  <a:srgbClr val="D6A332"/>
                </a:solidFill>
                <a:latin typeface="Arial"/>
                <a:ea typeface="Arial"/>
                <a:cs typeface="Arial"/>
              </a:rPr>
              <a:t>Simulated Junior IT Business Analyst portfolio 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82B1A-397E-41B9-B34D-06EFC247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9C9DF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9C9DF"/>
                </a:solidFill>
              </a:defRPr>
            </a:pPr>
            <a:r>
              <a:rPr sz="1350" b="0">
                <a:solidFill>
                  <a:srgbClr val="B9C9DF"/>
                </a:solidFill>
                <a:latin typeface="Arial"/>
                <a:ea typeface="Arial"/>
                <a:cs typeface="Arial"/>
              </a:rPr>
              <a:t>Tankhun Luengchaicharn  ·  Portfolio edition  · 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E0976-4A04-4637-B05D-AA0710EA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B9C9DF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B9C9DF"/>
                </a:solidFill>
              </a:defRPr>
            </a:pPr>
            <a:r>
              <a:rPr sz="975" b="0">
                <a:solidFill>
                  <a:srgbClr val="B9C9DF"/>
                </a:solidFill>
                <a:latin typeface="Arial"/>
                <a:ea typeface="Arial"/>
                <a:cs typeface="Arial"/>
              </a:rPr>
              <a:t>BABYFUND THAILAND  ·  SIMULATED BA CASE STUDY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A0A56-B6DF-4454-9770-4023C69A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0">
                <a:solidFill>
                  <a:srgbClr val="B9C9DF"/>
                </a:solidFill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B9C9DF"/>
                </a:solidFill>
              </a:defRPr>
            </a:pPr>
            <a:r>
              <a:rPr sz="1050" b="0">
                <a:solidFill>
                  <a:srgbClr val="B9C9DF"/>
                </a:solidFill>
                <a:latin typeface="Arial"/>
                <a:ea typeface="Arial"/>
                <a:cs typeface="Arial"/>
              </a:rP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13398119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9A1884-8498-4A2A-A341-3482652B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D6A332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D6A332"/>
                </a:solidFill>
              </a:defRPr>
            </a:pPr>
            <a:r>
              <a:rPr sz="1125" b="1">
                <a:solidFill>
                  <a:srgbClr val="D6A332"/>
                </a:solidFill>
                <a:latin typeface="Arial"/>
                <a:ea typeface="Arial"/>
                <a:cs typeface="Arial"/>
              </a:rPr>
              <a:t>PROBLEM HYPOTHESIS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C0B043-89C6-41BC-BA3F-76A83826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B68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3B68"/>
                </a:solidFill>
              </a:defRPr>
            </a:pPr>
            <a:r>
              <a:rPr sz="2850" b="1">
                <a:solidFill>
                  <a:srgbClr val="203B68"/>
                </a:solidFill>
                <a:latin typeface="Arial"/>
                <a:ea typeface="Arial"/>
                <a:cs typeface="Arial"/>
              </a:rPr>
              <a:t>The problem BabyFund explores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8494B-0C1A-4B98-932C-6E85F6AC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3B68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B68"/>
                </a:solidFill>
              </a:defRPr>
            </a:pPr>
            <a:r>
              <a:rPr sz="2250" b="1">
                <a:solidFill>
                  <a:srgbClr val="203B68"/>
                </a:solidFill>
                <a:latin typeface="Arial"/>
                <a:ea typeface="Arial"/>
                <a:cs typeface="Arial"/>
              </a:rPr>
              <a:t>Families give children money on important occasions.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8F11B-9F8A-41D7-BC02-E7C2A01F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D2A3A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D2A3A"/>
                </a:solidFill>
              </a:defRPr>
            </a:pPr>
            <a:r>
              <a:rPr sz="1875" b="0">
                <a:solidFill>
                  <a:srgbClr val="1D2A3A"/>
                </a:solidFill>
                <a:latin typeface="Arial"/>
                <a:ea typeface="Arial"/>
                <a:cs typeface="Arial"/>
              </a:rPr>
              <a:t>The guardian may want those gifts to support a longer-term plan, yet must coordinate contributors and explain progress.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B9C8A-17D9-403C-A23C-56289C66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D6A332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D6A332"/>
                </a:solidFill>
              </a:defRPr>
            </a:pPr>
            <a:r>
              <a:rPr sz="1275" b="1">
                <a:solidFill>
                  <a:srgbClr val="D6A332"/>
                </a:solidFill>
                <a:latin typeface="Arial"/>
                <a:ea typeface="Arial"/>
                <a:cs typeface="Arial"/>
              </a:rPr>
              <a:t>Question to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8079F-B346-4A4B-BCA5-1A720C28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203B68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203B68"/>
                </a:solidFill>
              </a:defRPr>
            </a:pPr>
            <a:r>
              <a:rPr sz="2625" b="1">
                <a:solidFill>
                  <a:srgbClr val="203B68"/>
                </a:solidFill>
                <a:latin typeface="Arial"/>
                <a:ea typeface="Arial"/>
                <a:cs typeface="Arial"/>
              </a:rPr>
              <a:t>Would a private guest contribution journey make this easier for Thai families?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67D77-18D8-4F4B-AA06-9E7C48DD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E6A79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E6A79"/>
                </a:solidFill>
              </a:defRPr>
            </a:pPr>
            <a:r>
              <a:rPr sz="1500" b="0">
                <a:solidFill>
                  <a:srgbClr val="5E6A79"/>
                </a:solidFill>
                <a:latin typeface="Arial"/>
                <a:ea typeface="Arial"/>
                <a:cs typeface="Arial"/>
              </a:rPr>
              <a:t>Demand has not been validated with users.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56A5B-8CED-42E2-B899-7A9932CD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E6A79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E6A79"/>
                </a:solidFill>
              </a:defRPr>
            </a:pPr>
            <a:r>
              <a:rPr sz="975" b="0">
                <a:solidFill>
                  <a:srgbClr val="5E6A79"/>
                </a:solidFill>
                <a:latin typeface="Arial"/>
                <a:ea typeface="Arial"/>
                <a:cs typeface="Arial"/>
              </a:rPr>
              <a:t>BABYFUND THAILAND  ·  SIMULATED BA CASE STUDY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78875-2F05-439B-B7C3-87BEB122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0">
                <a:solidFill>
                  <a:srgbClr val="5E6A79"/>
                </a:solidFill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E6A79"/>
                </a:solidFill>
              </a:defRPr>
            </a:pPr>
            <a:r>
              <a:rPr sz="1050" b="0">
                <a:solidFill>
                  <a:srgbClr val="5E6A79"/>
                </a:solidFill>
                <a:latin typeface="Arial"/>
                <a:ea typeface="Arial"/>
                <a:cs typeface="Arial"/>
              </a:rPr>
              <a:t>02 / 10</a:t>
            </a:r>
          </a:p>
        </p:txBody>
      </p:sp>
    </p:spTree>
    <p:extLst>
      <p:ext uri="{BB962C8B-B14F-4D97-AF65-F5344CB8AC3E}">
        <p14:creationId xmlns:p14="http://schemas.microsoft.com/office/powerpoint/2010/main" val="4777064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3F6B95-FE6D-4623-86D9-1BAE2D61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D6A332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D6A332"/>
                </a:solidFill>
              </a:defRPr>
            </a:pPr>
            <a:r>
              <a:rPr sz="1125" b="1">
                <a:solidFill>
                  <a:srgbClr val="D6A332"/>
                </a:solidFill>
                <a:latin typeface="Arial"/>
                <a:ea typeface="Arial"/>
                <a:cs typeface="Arial"/>
              </a:rPr>
              <a:t>CORE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8E00C-05BD-437E-BD6B-D46081A0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B68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3B68"/>
                </a:solidFill>
              </a:defRPr>
            </a:pPr>
            <a:r>
              <a:rPr sz="2850" b="1">
                <a:solidFill>
                  <a:srgbClr val="203B68"/>
                </a:solidFill>
                <a:latin typeface="Arial"/>
                <a:ea typeface="Arial"/>
                <a:cs typeface="Arial"/>
              </a:rPr>
              <a:t>A private gift has five distinct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8D58A-8E53-4302-A14D-DB1A0593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F5B99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F5B99"/>
                </a:solidFill>
              </a:defRPr>
            </a:pPr>
            <a:r>
              <a:rPr sz="1575" b="1">
                <a:solidFill>
                  <a:srgbClr val="2F5B99"/>
                </a:solidFill>
                <a:latin typeface="Arial"/>
                <a:ea typeface="Arial"/>
                <a:cs typeface="Arial"/>
              </a:rPr>
              <a:t>01  INVITE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A3B25-1827-402D-A66A-C27B6D74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335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D2A3A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D2A3A"/>
                </a:solidFill>
              </a:defRPr>
            </a:pPr>
            <a:r>
              <a:rPr sz="1725" b="0">
                <a:solidFill>
                  <a:srgbClr val="1D2A3A"/>
                </a:solidFill>
                <a:latin typeface="Arial"/>
                <a:ea typeface="Arial"/>
                <a:cs typeface="Arial"/>
              </a:rPr>
              <a:t>Guardian shares a private, expiring child-portfolio link.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7480A-BE9B-4024-8313-40A1D048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F5B99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F5B99"/>
                </a:solidFill>
              </a:defRPr>
            </a:pPr>
            <a:r>
              <a:rPr sz="1575" b="1">
                <a:solidFill>
                  <a:srgbClr val="2F5B99"/>
                </a:solidFill>
                <a:latin typeface="Arial"/>
                <a:ea typeface="Arial"/>
                <a:cs typeface="Arial"/>
              </a:rPr>
              <a:t>02  INTENT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C3099-ACA0-4A2B-9D31-91A7CEAC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D2A3A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D2A3A"/>
                </a:solidFill>
              </a:defRPr>
            </a:pPr>
            <a:r>
              <a:rPr sz="1725" b="0">
                <a:solidFill>
                  <a:srgbClr val="1D2A3A"/>
                </a:solidFill>
                <a:latin typeface="Arial"/>
                <a:ea typeface="Arial"/>
                <a:cs typeface="Arial"/>
              </a:rPr>
              <a:t>Guest proposes an amount without a BabyFund account. No money moves.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8F97DF-DAF8-45A7-9884-5BD0461E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F5B99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F5B99"/>
                </a:solidFill>
              </a:defRPr>
            </a:pPr>
            <a:r>
              <a:rPr sz="1575" b="1">
                <a:solidFill>
                  <a:srgbClr val="2F5B99"/>
                </a:solidFill>
                <a:latin typeface="Arial"/>
                <a:ea typeface="Arial"/>
                <a:cs typeface="Arial"/>
              </a:rPr>
              <a:t>03 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26355A-C968-4C37-9A62-0A2E1A6C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099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D2A3A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D2A3A"/>
                </a:solidFill>
              </a:defRPr>
            </a:pPr>
            <a:r>
              <a:rPr sz="1725" b="0">
                <a:solidFill>
                  <a:srgbClr val="1D2A3A"/>
                </a:solidFill>
                <a:latin typeface="Arial"/>
                <a:ea typeface="Arial"/>
                <a:cs typeface="Arial"/>
              </a:rPr>
              <a:t>Guardian accepts or declines before a payment instruction appears.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6CF0A0-30F4-4693-A766-9F93338D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F5B99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F5B99"/>
                </a:solidFill>
              </a:defRPr>
            </a:pPr>
            <a:r>
              <a:rPr sz="1575" b="1">
                <a:solidFill>
                  <a:srgbClr val="2F5B99"/>
                </a:solidFill>
                <a:latin typeface="Arial"/>
                <a:ea typeface="Arial"/>
                <a:cs typeface="Arial"/>
              </a:rPr>
              <a:t>04  PAYMENT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D87F47-26BE-4085-8CB4-9AFB809A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481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D2A3A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D2A3A"/>
                </a:solidFill>
              </a:defRPr>
            </a:pPr>
            <a:r>
              <a:rPr sz="1725" b="0">
                <a:solidFill>
                  <a:srgbClr val="1D2A3A"/>
                </a:solidFill>
                <a:latin typeface="Arial"/>
                <a:ea typeface="Arial"/>
                <a:cs typeface="Arial"/>
              </a:rPr>
              <a:t>A future approved provider checks payer and payment.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E7EFE-545F-4609-A471-DACD00B2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F5B99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F5B99"/>
                </a:solidFill>
              </a:defRPr>
            </a:pPr>
            <a:r>
              <a:rPr sz="1575" b="1">
                <a:solidFill>
                  <a:srgbClr val="2F5B99"/>
                </a:solidFill>
                <a:latin typeface="Arial"/>
                <a:ea typeface="Arial"/>
                <a:cs typeface="Arial"/>
              </a:rPr>
              <a:t>05  INVESTMENT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9A440A-1523-4500-B88F-0D8B0C6C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D2A3A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D2A3A"/>
                </a:solidFill>
              </a:defRPr>
            </a:pPr>
            <a:r>
              <a:rPr sz="1725" b="0">
                <a:solidFill>
                  <a:srgbClr val="1D2A3A"/>
                </a:solidFill>
                <a:latin typeface="Arial"/>
                <a:ea typeface="Arial"/>
                <a:cs typeface="Arial"/>
              </a:rPr>
              <a:t>Only partner confirmation updates invested value.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DD3C89-93C4-4B8A-B7F9-4C71895C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E6A79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E6A79"/>
                </a:solidFill>
              </a:defRPr>
            </a:pPr>
            <a:r>
              <a:rPr sz="1425" b="0">
                <a:solidFill>
                  <a:srgbClr val="5E6A79"/>
                </a:solidFill>
                <a:latin typeface="Arial"/>
                <a:ea typeface="Arial"/>
                <a:cs typeface="Arial"/>
              </a:rPr>
              <a:t>A payment receipt alone never increases the invested balance.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0752E2-467B-4683-9466-B2C13D14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E6A79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E6A79"/>
                </a:solidFill>
              </a:defRPr>
            </a:pPr>
            <a:r>
              <a:rPr sz="975" b="0">
                <a:solidFill>
                  <a:srgbClr val="5E6A79"/>
                </a:solidFill>
                <a:latin typeface="Arial"/>
                <a:ea typeface="Arial"/>
                <a:cs typeface="Arial"/>
              </a:rPr>
              <a:t>BABYFUND THAILAND  ·  SIMULATED BA CASE STUDY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B8DA0-FE10-4727-9418-0148005E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0">
                <a:solidFill>
                  <a:srgbClr val="5E6A79"/>
                </a:solidFill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E6A79"/>
                </a:solidFill>
              </a:defRPr>
            </a:pPr>
            <a:r>
              <a:rPr sz="1050" b="0">
                <a:solidFill>
                  <a:srgbClr val="5E6A79"/>
                </a:solidFill>
                <a:latin typeface="Arial"/>
                <a:ea typeface="Arial"/>
                <a:cs typeface="Arial"/>
              </a:rPr>
              <a:t>03 / 10</a:t>
            </a:r>
          </a:p>
        </p:txBody>
      </p:sp>
    </p:spTree>
    <p:extLst>
      <p:ext uri="{BB962C8B-B14F-4D97-AF65-F5344CB8AC3E}">
        <p14:creationId xmlns:p14="http://schemas.microsoft.com/office/powerpoint/2010/main" val="17106507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33A559-3D60-43B1-9DAC-6B7482EC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D6A332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D6A332"/>
                </a:solidFill>
              </a:defRPr>
            </a:pPr>
            <a:r>
              <a:rPr sz="1125" b="1">
                <a:solidFill>
                  <a:srgbClr val="D6A332"/>
                </a:solidFill>
                <a:latin typeface="Arial"/>
                <a:ea typeface="Arial"/>
                <a:cs typeface="Arial"/>
              </a:rPr>
              <a:t>PLANNING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72104-9220-49C7-AC64-504A5374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B68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3B68"/>
                </a:solidFill>
              </a:defRPr>
            </a:pPr>
            <a:r>
              <a:rPr sz="2850" b="1">
                <a:solidFill>
                  <a:srgbClr val="203B68"/>
                </a:solidFill>
                <a:latin typeface="Arial"/>
                <a:ea typeface="Arial"/>
                <a:cs typeface="Arial"/>
              </a:rPr>
              <a:t>One child portfolio, several future goals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4F0A3-9022-447F-A879-A9BD0A54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203B68"/>
                </a:solidFill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203B68"/>
                </a:solidFill>
              </a:defRPr>
            </a:pPr>
            <a:r>
              <a:rPr sz="4950" b="1">
                <a:solidFill>
                  <a:srgbClr val="203B68"/>
                </a:solidFill>
                <a:latin typeface="Arial"/>
                <a:ea typeface="Arial"/>
                <a:cs typeface="Arial"/>
              </a:rPr>
              <a:t>฿100,000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D2D72-3813-452C-A918-519543D7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E6A79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E6A79"/>
                </a:solidFill>
              </a:defRPr>
            </a:pPr>
            <a:r>
              <a:rPr sz="1800" b="0">
                <a:solidFill>
                  <a:srgbClr val="5E6A79"/>
                </a:solidFill>
                <a:latin typeface="Arial"/>
                <a:ea typeface="Arial"/>
                <a:cs typeface="Arial"/>
              </a:rPr>
              <a:t>one pooled child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FCDDA-2D19-42F4-B1F6-2BC4A2EF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03B68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03B68"/>
                </a:solidFill>
              </a:defRPr>
            </a:pPr>
            <a:r>
              <a:rPr sz="1800" b="1">
                <a:solidFill>
                  <a:srgbClr val="203B68"/>
                </a:solidFill>
                <a:latin typeface="Arial"/>
                <a:ea typeface="Arial"/>
                <a:cs typeface="Arial"/>
              </a:rPr>
              <a:t>Goal 1  ·  ฿20,000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9FB7F-4DE4-4472-9769-B803FA96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4667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D2A3A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D2A3A"/>
                </a:solidFill>
              </a:defRPr>
            </a:pPr>
            <a:r>
              <a:rPr sz="1725" b="0">
                <a:solidFill>
                  <a:srgbClr val="1D2A3A"/>
                </a:solidFill>
                <a:latin typeface="Arial"/>
                <a:ea typeface="Arial"/>
                <a:cs typeface="Arial"/>
              </a:rPr>
              <a:t>Illustrative amount left: ฿80,000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7D2306-DAA0-4AA9-91D7-B6026A28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03B68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03B68"/>
                </a:solidFill>
              </a:defRPr>
            </a:pPr>
            <a:r>
              <a:rPr sz="1800" b="1">
                <a:solidFill>
                  <a:srgbClr val="203B68"/>
                </a:solidFill>
                <a:latin typeface="Arial"/>
                <a:ea typeface="Arial"/>
                <a:cs typeface="Arial"/>
              </a:rPr>
              <a:t>Goal 2  ·  ฿50,000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8A9BD4-E22F-4CB0-873B-190FD401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4762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D2A3A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D2A3A"/>
                </a:solidFill>
              </a:defRPr>
            </a:pPr>
            <a:r>
              <a:rPr sz="1725" b="0">
                <a:solidFill>
                  <a:srgbClr val="1D2A3A"/>
                </a:solidFill>
                <a:latin typeface="Arial"/>
                <a:ea typeface="Arial"/>
                <a:cs typeface="Arial"/>
              </a:rPr>
              <a:t>Illustrative amount left: ฿30,000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F51EF-ED9F-48E8-A8A3-C3D66921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03B68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03B68"/>
                </a:solidFill>
              </a:defRPr>
            </a:pPr>
            <a:r>
              <a:rPr sz="1800" b="1">
                <a:solidFill>
                  <a:srgbClr val="203B68"/>
                </a:solidFill>
                <a:latin typeface="Arial"/>
                <a:ea typeface="Arial"/>
                <a:cs typeface="Arial"/>
              </a:rPr>
              <a:t>Goal 3  ·  ฿100,000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277D91-06B1-46E0-B2BA-632460FE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2920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D2A3A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D2A3A"/>
                </a:solidFill>
              </a:defRPr>
            </a:pPr>
            <a:r>
              <a:rPr sz="1800" b="0">
                <a:solidFill>
                  <a:srgbClr val="1D2A3A"/>
                </a:solidFill>
                <a:latin typeface="Arial"/>
                <a:ea typeface="Arial"/>
                <a:cs typeface="Arial"/>
              </a:rPr>
              <a:t>Illustrative shortfall: ฿70,000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70F886-2C7C-44BA-B544-B377E270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E6A79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E6A79"/>
                </a:solidFill>
              </a:defRPr>
            </a:pPr>
            <a:r>
              <a:rPr sz="1425" b="0">
                <a:solidFill>
                  <a:srgbClr val="5E6A79"/>
                </a:solidFill>
                <a:latin typeface="Arial"/>
                <a:ea typeface="Arial"/>
                <a:cs typeface="Arial"/>
              </a:rPr>
              <a:t>Today’s priority illustration only. Goals do not hold separate investment balances.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350A1-B28A-4211-ACD6-F24A9F8C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E6A79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E6A79"/>
                </a:solidFill>
              </a:defRPr>
            </a:pPr>
            <a:r>
              <a:rPr sz="975" b="0">
                <a:solidFill>
                  <a:srgbClr val="5E6A79"/>
                </a:solidFill>
                <a:latin typeface="Arial"/>
                <a:ea typeface="Arial"/>
                <a:cs typeface="Arial"/>
              </a:rPr>
              <a:t>BABYFUND THAILAND  ·  SIMULATED BA CASE STUDY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A67BC-89E3-4004-BCD0-E1DBDCBA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0">
                <a:solidFill>
                  <a:srgbClr val="5E6A79"/>
                </a:solidFill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E6A79"/>
                </a:solidFill>
              </a:defRPr>
            </a:pPr>
            <a:r>
              <a:rPr sz="1050" b="0">
                <a:solidFill>
                  <a:srgbClr val="5E6A79"/>
                </a:solidFill>
                <a:latin typeface="Arial"/>
                <a:ea typeface="Arial"/>
                <a:cs typeface="Arial"/>
              </a:rPr>
              <a:t>04 / 10</a:t>
            </a:r>
          </a:p>
        </p:txBody>
      </p:sp>
    </p:spTree>
    <p:extLst>
      <p:ext uri="{BB962C8B-B14F-4D97-AF65-F5344CB8AC3E}">
        <p14:creationId xmlns:p14="http://schemas.microsoft.com/office/powerpoint/2010/main" val="10875242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E168E-7BB0-4F45-BA5C-6ED79557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D6A332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D6A332"/>
                </a:solidFill>
              </a:defRPr>
            </a:pPr>
            <a:r>
              <a:rPr sz="1125" b="1">
                <a:solidFill>
                  <a:srgbClr val="D6A332"/>
                </a:solidFill>
                <a:latin typeface="Arial"/>
                <a:ea typeface="Arial"/>
                <a:cs typeface="Arial"/>
              </a:rPr>
              <a:t>OPERATING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CB0B9-82E1-459A-B9B9-3AFE7D6F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B68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3B68"/>
                </a:solidFill>
              </a:defRPr>
            </a:pPr>
            <a:r>
              <a:rPr sz="2850" b="1">
                <a:solidFill>
                  <a:srgbClr val="203B68"/>
                </a:solidFill>
                <a:latin typeface="Arial"/>
                <a:ea typeface="Arial"/>
                <a:cs typeface="Arial"/>
              </a:rPr>
              <a:t>BabyFund coordinates; a partner decides investment terms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267E5-77FE-4EB2-B2FC-B58A9304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03B68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03B68"/>
                </a:solidFill>
              </a:defRPr>
            </a:pPr>
            <a:r>
              <a:rPr sz="2100" b="1">
                <a:solidFill>
                  <a:srgbClr val="203B68"/>
                </a:solidFill>
                <a:latin typeface="Arial"/>
                <a:ea typeface="Arial"/>
                <a:cs typeface="Arial"/>
              </a:rPr>
              <a:t>BabyFund proposal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9F502-5E22-4306-ADD4-9DFBFBC8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6672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D2A3A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D2A3A"/>
                </a:solidFill>
              </a:defRPr>
            </a:pPr>
            <a:r>
              <a:rPr sz="1875" b="0">
                <a:solidFill>
                  <a:srgbClr val="1D2A3A"/>
                </a:solidFill>
                <a:latin typeface="Arial"/>
                <a:ea typeface="Arial"/>
                <a:cs typeface="Arial"/>
              </a:rPr>
              <a:t>Goals and dates</a:t>
            </a:r>
            <a:br>
              <a:rPr sz="1875" b="0">
                <a:solidFill>
                  <a:srgbClr val="1D2A3A"/>
                </a:solidFill>
                <a:latin typeface="Arial"/>
                <a:ea typeface="Arial"/>
                <a:cs typeface="Arial"/>
              </a:rPr>
            </a:br>
            <a:r>
              <a:rPr sz="1875" b="0">
                <a:solidFill>
                  <a:srgbClr val="1D2A3A"/>
                </a:solidFill>
                <a:latin typeface="Arial"/>
                <a:ea typeface="Arial"/>
                <a:cs typeface="Arial"/>
              </a:rPr>
              <a:t>Private invitations</a:t>
            </a:r>
            <a:br>
              <a:rPr sz="1875" b="0">
                <a:solidFill>
                  <a:srgbClr val="1D2A3A"/>
                </a:solidFill>
                <a:latin typeface="Arial"/>
                <a:ea typeface="Arial"/>
                <a:cs typeface="Arial"/>
              </a:rPr>
            </a:br>
            <a:r>
              <a:rPr sz="1875" b="0">
                <a:solidFill>
                  <a:srgbClr val="1D2A3A"/>
                </a:solidFill>
                <a:latin typeface="Arial"/>
                <a:ea typeface="Arial"/>
                <a:cs typeface="Arial"/>
              </a:rPr>
              <a:t>Guardian review</a:t>
            </a:r>
            <a:br>
              <a:rPr sz="1875" b="0">
                <a:solidFill>
                  <a:srgbClr val="1D2A3A"/>
                </a:solidFill>
                <a:latin typeface="Arial"/>
                <a:ea typeface="Arial"/>
                <a:cs typeface="Arial"/>
              </a:rPr>
            </a:br>
            <a:r>
              <a:rPr sz="1875" b="0">
                <a:solidFill>
                  <a:srgbClr val="1D2A3A"/>
                </a:solidFill>
                <a:latin typeface="Arial"/>
                <a:ea typeface="Arial"/>
                <a:cs typeface="Arial"/>
              </a:rPr>
              <a:t>Status and planning 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5488E-C31A-4B43-A8E2-BF3A9DBD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03B68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03B68"/>
                </a:solidFill>
              </a:defRPr>
            </a:pPr>
            <a:r>
              <a:rPr sz="2100" b="1">
                <a:solidFill>
                  <a:srgbClr val="203B68"/>
                </a:solidFill>
                <a:latin typeface="Arial"/>
                <a:ea typeface="Arial"/>
                <a:cs typeface="Arial"/>
              </a:rPr>
              <a:t>Future licensed partner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3E651-B4FA-4613-85BA-98C227A2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5238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D2A3A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D2A3A"/>
                </a:solidFill>
              </a:defRPr>
            </a:pPr>
            <a:r>
              <a:rPr sz="1875" b="0">
                <a:solidFill>
                  <a:srgbClr val="1D2A3A"/>
                </a:solidFill>
                <a:latin typeface="Arial"/>
                <a:ea typeface="Arial"/>
                <a:cs typeface="Arial"/>
              </a:rPr>
              <a:t>Account ownership and custody</a:t>
            </a:r>
            <a:br>
              <a:rPr sz="1875" b="0">
                <a:solidFill>
                  <a:srgbClr val="1D2A3A"/>
                </a:solidFill>
                <a:latin typeface="Arial"/>
                <a:ea typeface="Arial"/>
                <a:cs typeface="Arial"/>
              </a:rPr>
            </a:br>
            <a:r>
              <a:rPr sz="1875" b="0">
                <a:solidFill>
                  <a:srgbClr val="1D2A3A"/>
                </a:solidFill>
                <a:latin typeface="Arial"/>
                <a:ea typeface="Arial"/>
                <a:cs typeface="Arial"/>
              </a:rPr>
              <a:t>Product suitability and execution</a:t>
            </a:r>
            <a:br>
              <a:rPr sz="1875" b="0">
                <a:solidFill>
                  <a:srgbClr val="1D2A3A"/>
                </a:solidFill>
                <a:latin typeface="Arial"/>
                <a:ea typeface="Arial"/>
                <a:cs typeface="Arial"/>
              </a:rPr>
            </a:br>
            <a:r>
              <a:rPr sz="1875" b="0">
                <a:solidFill>
                  <a:srgbClr val="1D2A3A"/>
                </a:solidFill>
                <a:latin typeface="Arial"/>
                <a:ea typeface="Arial"/>
                <a:cs typeface="Arial"/>
              </a:rPr>
              <a:t>Payer, payment and FX controls</a:t>
            </a:r>
            <a:br>
              <a:rPr sz="1875" b="0">
                <a:solidFill>
                  <a:srgbClr val="1D2A3A"/>
                </a:solidFill>
                <a:latin typeface="Arial"/>
                <a:ea typeface="Arial"/>
                <a:cs typeface="Arial"/>
              </a:rPr>
            </a:br>
            <a:r>
              <a:rPr sz="1875" b="0">
                <a:solidFill>
                  <a:srgbClr val="1D2A3A"/>
                </a:solidFill>
                <a:latin typeface="Arial"/>
                <a:ea typeface="Arial"/>
                <a:cs typeface="Arial"/>
              </a:rPr>
              <a:t>Withdrawal and transfer rights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382D3-4C36-45F1-9423-264B0E8E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D6A332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D6A332"/>
                </a:solidFill>
              </a:defRPr>
            </a:pPr>
            <a:r>
              <a:rPr sz="1875" b="1">
                <a:solidFill>
                  <a:srgbClr val="D6A332"/>
                </a:solidFill>
                <a:latin typeface="Arial"/>
                <a:ea typeface="Arial"/>
                <a:cs typeface="Arial"/>
              </a:rPr>
              <a:t>No partner agreement or live integration exists.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DEB60-5490-49D1-8554-CA4359FD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E6A79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E6A79"/>
                </a:solidFill>
              </a:defRPr>
            </a:pPr>
            <a:r>
              <a:rPr sz="975" b="0">
                <a:solidFill>
                  <a:srgbClr val="5E6A79"/>
                </a:solidFill>
                <a:latin typeface="Arial"/>
                <a:ea typeface="Arial"/>
                <a:cs typeface="Arial"/>
              </a:rPr>
              <a:t>BABYFUND THAILAND  ·  SIMULATED BA CASE STUDY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9EC93-B725-48E7-B788-2E3573BC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0">
                <a:solidFill>
                  <a:srgbClr val="5E6A79"/>
                </a:solidFill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E6A79"/>
                </a:solidFill>
              </a:defRPr>
            </a:pPr>
            <a:r>
              <a:rPr sz="1050" b="0">
                <a:solidFill>
                  <a:srgbClr val="5E6A79"/>
                </a:solidFill>
                <a:latin typeface="Arial"/>
                <a:ea typeface="Arial"/>
                <a:cs typeface="Arial"/>
              </a:rPr>
              <a:t>05 / 10</a:t>
            </a:r>
          </a:p>
        </p:txBody>
      </p:sp>
    </p:spTree>
    <p:extLst>
      <p:ext uri="{BB962C8B-B14F-4D97-AF65-F5344CB8AC3E}">
        <p14:creationId xmlns:p14="http://schemas.microsoft.com/office/powerpoint/2010/main" val="7547177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53C982-6987-4361-B4DB-9FB5BA43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D6A332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D6A332"/>
                </a:solidFill>
              </a:defRPr>
            </a:pPr>
            <a:r>
              <a:rPr sz="1125" b="1">
                <a:solidFill>
                  <a:srgbClr val="D6A332"/>
                </a:solidFill>
                <a:latin typeface="Arial"/>
                <a:ea typeface="Arial"/>
                <a:cs typeface="Arial"/>
              </a:rPr>
              <a:t>COMPETITOR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2E916-E3A0-4F3F-973B-B12CACD5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B68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3B68"/>
                </a:solidFill>
              </a:defRPr>
            </a:pPr>
            <a:r>
              <a:rPr sz="2850" b="1">
                <a:solidFill>
                  <a:srgbClr val="203B68"/>
                </a:solidFill>
                <a:latin typeface="Arial"/>
                <a:ea typeface="Arial"/>
                <a:cs typeface="Arial"/>
              </a:rPr>
              <a:t>Similar features exist; this combination remains untested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6A81C-88B3-4933-B74D-2C1ACE08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F5B99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F5B99"/>
                </a:solidFill>
              </a:defRPr>
            </a:pPr>
            <a:r>
              <a:rPr sz="1650" b="1">
                <a:solidFill>
                  <a:srgbClr val="2F5B99"/>
                </a:solidFill>
                <a:latin typeface="Arial"/>
                <a:ea typeface="Arial"/>
                <a:cs typeface="Arial"/>
              </a:rPr>
              <a:t>Dime Secondary Account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4655E-28CF-44C2-BB31-DA3211CF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762125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D2A3A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D2A3A"/>
                </a:solidFill>
              </a:defRPr>
            </a:pPr>
            <a:r>
              <a:rPr sz="1575" b="0">
                <a:solidFill>
                  <a:srgbClr val="1D2A3A"/>
                </a:solidFill>
                <a:latin typeface="Arial"/>
                <a:ea typeface="Arial"/>
                <a:cs typeface="Arial"/>
              </a:rPr>
              <a:t>Child-linked investing with parent ownership and an age-20 transfer process.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9C740-9F3D-43FF-9FA1-BBA2A9B3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F5B99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F5B99"/>
                </a:solidFill>
              </a:defRPr>
            </a:pPr>
            <a:r>
              <a:rPr sz="1650" b="1">
                <a:solidFill>
                  <a:srgbClr val="2F5B99"/>
                </a:solidFill>
                <a:latin typeface="Arial"/>
                <a:ea typeface="Arial"/>
                <a:cs typeface="Arial"/>
              </a:rPr>
              <a:t>Dime My 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640A1-3DF0-430B-BD26-1CBDAE0F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752725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D2A3A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D2A3A"/>
                </a:solidFill>
              </a:defRPr>
            </a:pPr>
            <a:r>
              <a:rPr sz="1575" b="0">
                <a:solidFill>
                  <a:srgbClr val="1D2A3A"/>
                </a:solidFill>
                <a:latin typeface="Arial"/>
                <a:ea typeface="Arial"/>
                <a:cs typeface="Arial"/>
              </a:rPr>
              <a:t>Creates separate portfolios for goals. BabyFund proposes one pooled child portfolio with planning goals.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056B0-9F55-46CB-8B5A-A0F8C4F1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F5B99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F5B99"/>
                </a:solidFill>
              </a:defRPr>
            </a:pPr>
            <a:r>
              <a:rPr sz="1650" b="1">
                <a:solidFill>
                  <a:srgbClr val="2F5B99"/>
                </a:solidFill>
                <a:latin typeface="Arial"/>
                <a:ea typeface="Arial"/>
                <a:cs typeface="Arial"/>
              </a:rPr>
              <a:t>Kept Together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FD523-E3F0-4A10-8B7E-C356453E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743325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D2A3A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D2A3A"/>
                </a:solidFill>
              </a:defRPr>
            </a:pPr>
            <a:r>
              <a:rPr sz="1575" b="0">
                <a:solidFill>
                  <a:srgbClr val="1D2A3A"/>
                </a:solidFill>
                <a:latin typeface="Arial"/>
                <a:ea typeface="Arial"/>
                <a:cs typeface="Arial"/>
              </a:rPr>
              <a:t>Shared saving. Participants need Kept accounts; investment is a separate offering.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06E88-24AA-407E-A1A7-E42D9BBD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F5B99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F5B99"/>
                </a:solidFill>
              </a:defRPr>
            </a:pPr>
            <a:r>
              <a:rPr sz="1650" b="1">
                <a:solidFill>
                  <a:srgbClr val="2F5B99"/>
                </a:solidFill>
                <a:latin typeface="Arial"/>
                <a:ea typeface="Arial"/>
                <a:cs typeface="Arial"/>
              </a:rPr>
              <a:t>UNest (US)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C5364-F895-49CA-BDF3-12C272AC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33925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D2A3A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D2A3A"/>
                </a:solidFill>
              </a:defRPr>
            </a:pPr>
            <a:r>
              <a:rPr sz="1575" b="0">
                <a:solidFill>
                  <a:srgbClr val="1D2A3A"/>
                </a:solidFill>
                <a:latin typeface="Arial"/>
                <a:ea typeface="Arial"/>
                <a:cs typeface="Arial"/>
              </a:rPr>
              <a:t>Guest gifting without a UNest account exists outside Thailand.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47212A-4683-44AA-9496-0864BEA9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E6A79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E6A79"/>
                </a:solidFill>
              </a:defRPr>
            </a:pPr>
            <a:r>
              <a:rPr sz="1425" b="0">
                <a:solidFill>
                  <a:srgbClr val="5E6A79"/>
                </a:solidFill>
                <a:latin typeface="Arial"/>
                <a:ea typeface="Arial"/>
                <a:cs typeface="Arial"/>
              </a:rPr>
              <a:t>BabyFund’s Thai guest journey is a hypothesis to test, not an exclusive feature claim.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00CDE-4564-474E-B821-894EE9C0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E6A79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E6A79"/>
                </a:solidFill>
              </a:defRPr>
            </a:pPr>
            <a:r>
              <a:rPr sz="975" b="0">
                <a:solidFill>
                  <a:srgbClr val="5E6A79"/>
                </a:solidFill>
                <a:latin typeface="Arial"/>
                <a:ea typeface="Arial"/>
                <a:cs typeface="Arial"/>
              </a:rPr>
              <a:t>BABYFUND THAILAND  ·  SIMULATED BA CASE STUDY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DCF03F-B393-49C7-AAD8-31E1F420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0">
                <a:solidFill>
                  <a:srgbClr val="5E6A79"/>
                </a:solidFill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E6A79"/>
                </a:solidFill>
              </a:defRPr>
            </a:pPr>
            <a:r>
              <a:rPr sz="1050" b="0">
                <a:solidFill>
                  <a:srgbClr val="5E6A79"/>
                </a:solidFill>
                <a:latin typeface="Arial"/>
                <a:ea typeface="Arial"/>
                <a:cs typeface="Arial"/>
              </a:rPr>
              <a:t>06 / 10</a:t>
            </a:r>
          </a:p>
        </p:txBody>
      </p:sp>
    </p:spTree>
    <p:extLst>
      <p:ext uri="{BB962C8B-B14F-4D97-AF65-F5344CB8AC3E}">
        <p14:creationId xmlns:p14="http://schemas.microsoft.com/office/powerpoint/2010/main" val="11823883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A64FD1-E8DE-43F1-A5D1-9B01ED0C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D6A332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D6A332"/>
                </a:solidFill>
              </a:defRPr>
            </a:pPr>
            <a:r>
              <a:rPr sz="1125" b="1">
                <a:solidFill>
                  <a:srgbClr val="D6A332"/>
                </a:solidFill>
                <a:latin typeface="Arial"/>
                <a:ea typeface="Arial"/>
                <a:cs typeface="Arial"/>
              </a:rPr>
              <a:t>PROJECTOR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10A84-0DD0-41BC-9E5F-0B8C2E52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B68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3B68"/>
                </a:solidFill>
              </a:defRPr>
            </a:pPr>
            <a:r>
              <a:rPr sz="2850" b="1">
                <a:solidFill>
                  <a:srgbClr val="203B68"/>
                </a:solidFill>
                <a:latin typeface="Arial"/>
                <a:ea typeface="Arial"/>
                <a:cs typeface="Arial"/>
              </a:rPr>
              <a:t>Scenario outputs depend on the child’s remaining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49C30-D1B4-4263-BAE8-2BCA672B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B68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3B68"/>
                </a:solidFill>
              </a:defRPr>
            </a:pPr>
            <a:r>
              <a:rPr sz="2850" b="1">
                <a:solidFill>
                  <a:srgbClr val="203B68"/>
                </a:solidFill>
                <a:latin typeface="Arial"/>
                <a:ea typeface="Arial"/>
                <a:cs typeface="Arial"/>
              </a:rPr>
              <a:t>฿1,500 monthly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7BECC-88CD-43D2-B98A-B5A8156C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E6A79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E6A79"/>
                </a:solidFill>
              </a:defRPr>
            </a:pPr>
            <a:r>
              <a:rPr sz="1575" b="0">
                <a:solidFill>
                  <a:srgbClr val="5E6A79"/>
                </a:solidFill>
                <a:latin typeface="Arial"/>
                <a:ea typeface="Arial"/>
                <a:cs typeface="Arial"/>
              </a:rPr>
              <a:t>Starting at birth  ·  240 end-month payments  ·  no opening balance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7D338-F5FC-426A-9232-4E78C303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5B99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F5B99"/>
                </a:solidFill>
              </a:defRPr>
            </a:pPr>
            <a:r>
              <a:rPr sz="1875" b="1">
                <a:solidFill>
                  <a:srgbClr val="2F5B99"/>
                </a:solidFill>
                <a:latin typeface="Arial"/>
                <a:ea typeface="Arial"/>
                <a:cs typeface="Arial"/>
              </a:rPr>
              <a:t>−2%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0F5DA-DAF3-4B29-A70F-55E9036A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3B68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3B68"/>
                </a:solidFill>
              </a:defRPr>
            </a:pPr>
            <a:r>
              <a:rPr sz="3150" b="1">
                <a:solidFill>
                  <a:srgbClr val="203B68"/>
                </a:solidFill>
                <a:latin typeface="Arial"/>
                <a:ea typeface="Arial"/>
                <a:cs typeface="Arial"/>
              </a:rPr>
              <a:t>฿296,913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31FDC-B7DE-4714-A374-CC30DDDE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3051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5B99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F5B99"/>
                </a:solidFill>
              </a:defRPr>
            </a:pPr>
            <a:r>
              <a:rPr sz="1875" b="1">
                <a:solidFill>
                  <a:srgbClr val="2F5B99"/>
                </a:solidFill>
                <a:latin typeface="Arial"/>
                <a:ea typeface="Arial"/>
                <a:cs typeface="Arial"/>
              </a:rPr>
              <a:t>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F343C-3C0B-4A69-92C3-9933951E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7623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3B68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3B68"/>
                </a:solidFill>
              </a:defRPr>
            </a:pPr>
            <a:r>
              <a:rPr sz="3150" b="1">
                <a:solidFill>
                  <a:srgbClr val="203B68"/>
                </a:solidFill>
                <a:latin typeface="Arial"/>
                <a:ea typeface="Arial"/>
                <a:cs typeface="Arial"/>
              </a:rPr>
              <a:t>฿616,551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798F29-DCFF-4A55-985B-7120A6F8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051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5B99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F5B99"/>
                </a:solidFill>
              </a:defRPr>
            </a:pPr>
            <a:r>
              <a:rPr sz="1875" b="1">
                <a:solidFill>
                  <a:srgbClr val="2F5B99"/>
                </a:solidFill>
                <a:latin typeface="Arial"/>
                <a:ea typeface="Arial"/>
                <a:cs typeface="Arial"/>
              </a:rPr>
              <a:t>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42C52-4546-406D-A53A-3C6714D9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623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3B68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3B68"/>
                </a:solidFill>
              </a:defRPr>
            </a:pPr>
            <a:r>
              <a:rPr sz="3150" b="1">
                <a:solidFill>
                  <a:srgbClr val="203B68"/>
                </a:solidFill>
                <a:latin typeface="Arial"/>
                <a:ea typeface="Arial"/>
                <a:cs typeface="Arial"/>
              </a:rPr>
              <a:t>฿883,531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C95A1-F878-49CB-82CC-2AEA8E48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D2A3A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D2A3A"/>
                </a:solidFill>
              </a:defRPr>
            </a:pPr>
            <a:r>
              <a:rPr sz="1950" b="0">
                <a:solidFill>
                  <a:srgbClr val="1D2A3A"/>
                </a:solidFill>
                <a:latin typeface="Arial"/>
                <a:ea typeface="Arial"/>
                <a:cs typeface="Arial"/>
              </a:rPr>
              <a:t>A child starting at age 10 has about 120 monthly payments until age 20.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00B827-F58E-47D4-93D3-19609CAD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E6A79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E6A79"/>
                </a:solidFill>
              </a:defRPr>
            </a:pPr>
            <a:r>
              <a:rPr sz="1350" b="0">
                <a:solidFill>
                  <a:srgbClr val="5E6A79"/>
                </a:solidFill>
                <a:latin typeface="Arial"/>
                <a:ea typeface="Arial"/>
                <a:cs typeface="Arial"/>
              </a:rPr>
              <a:t>Constant rates are sensitivity inputs, not return forecasts or success probabilities. Fees, tax, FX and inflation are excluded.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81B994-EED6-4690-9F2D-D1D48FBA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E6A79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E6A79"/>
                </a:solidFill>
              </a:defRPr>
            </a:pPr>
            <a:r>
              <a:rPr sz="975" b="0">
                <a:solidFill>
                  <a:srgbClr val="5E6A79"/>
                </a:solidFill>
                <a:latin typeface="Arial"/>
                <a:ea typeface="Arial"/>
                <a:cs typeface="Arial"/>
              </a:rPr>
              <a:t>BABYFUND THAILAND  ·  SIMULATED BA CASE STUDY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496C76-0D72-4573-920E-3D581925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0">
                <a:solidFill>
                  <a:srgbClr val="5E6A79"/>
                </a:solidFill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E6A79"/>
                </a:solidFill>
              </a:defRPr>
            </a:pPr>
            <a:r>
              <a:rPr sz="1050" b="0">
                <a:solidFill>
                  <a:srgbClr val="5E6A79"/>
                </a:solidFill>
                <a:latin typeface="Arial"/>
                <a:ea typeface="Arial"/>
                <a:cs typeface="Arial"/>
              </a:rPr>
              <a:t>07 / 10</a:t>
            </a:r>
          </a:p>
        </p:txBody>
      </p:sp>
    </p:spTree>
    <p:extLst>
      <p:ext uri="{BB962C8B-B14F-4D97-AF65-F5344CB8AC3E}">
        <p14:creationId xmlns:p14="http://schemas.microsoft.com/office/powerpoint/2010/main" val="9707068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ED8B99-BE85-403C-94F2-89702E06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D6A332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D6A332"/>
                </a:solidFill>
              </a:defRPr>
            </a:pPr>
            <a:r>
              <a:rPr sz="1125" b="1">
                <a:solidFill>
                  <a:srgbClr val="D6A332"/>
                </a:solidFill>
                <a:latin typeface="Arial"/>
                <a:ea typeface="Arial"/>
                <a:cs typeface="Arial"/>
              </a:rPr>
              <a:t>BUSINESS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206D0-932F-4269-BD03-0B11C7AC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B68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3B68"/>
                </a:solidFill>
              </a:defRPr>
            </a:pPr>
            <a:r>
              <a:rPr sz="2850" b="1">
                <a:solidFill>
                  <a:srgbClr val="203B68"/>
                </a:solidFill>
                <a:latin typeface="Arial"/>
                <a:ea typeface="Arial"/>
                <a:cs typeface="Arial"/>
              </a:rPr>
              <a:t>Revenue remains a conditional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8121A-7CE4-4173-A1D0-719DD1D3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03B68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03B68"/>
                </a:solidFill>
              </a:defRPr>
            </a:pPr>
            <a:r>
              <a:rPr sz="1650" b="1">
                <a:solidFill>
                  <a:srgbClr val="203B68"/>
                </a:solidFill>
                <a:latin typeface="Arial"/>
                <a:ea typeface="Arial"/>
                <a:cs typeface="Arial"/>
              </a:rPr>
              <a:t>Subscription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E55C9-082A-448F-BE30-8FEED669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52600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D2A3A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D2A3A"/>
                </a:solidFill>
              </a:defRPr>
            </a:pPr>
            <a:r>
              <a:rPr sz="1575" b="0">
                <a:solidFill>
                  <a:srgbClr val="1D2A3A"/>
                </a:solidFill>
                <a:latin typeface="Arial"/>
                <a:ea typeface="Arial"/>
                <a:cs typeface="Arial"/>
              </a:rPr>
              <a:t>100 paid × ฿149 ×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1A92F-BEDD-4739-BDE1-6C546815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75260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875" b="1">
                <a:solidFill>
                  <a:srgbClr val="2F5B99"/>
                </a:solidFill>
              </a:defRPr>
            </a:defPPr>
          </a:lstStyle>
          <a:p xmlns:a="http://schemas.openxmlformats.org/drawingml/2006/main">
            <a:pPr algn="r">
              <a:defRPr sz="1875" b="1">
                <a:solidFill>
                  <a:srgbClr val="2F5B99"/>
                </a:solidFill>
              </a:defRPr>
            </a:pPr>
            <a:r>
              <a:rPr sz="1875" b="1">
                <a:solidFill>
                  <a:srgbClr val="2F5B99"/>
                </a:solidFill>
                <a:latin typeface="Arial"/>
                <a:ea typeface="Arial"/>
                <a:cs typeface="Arial"/>
              </a:rPr>
              <a:t>฿178,800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F944C-B3D2-4ADB-8B7C-ABC60F0B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03B68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03B68"/>
                </a:solidFill>
              </a:defRPr>
            </a:pPr>
            <a:r>
              <a:rPr sz="1650" b="1">
                <a:solidFill>
                  <a:srgbClr val="203B68"/>
                </a:solidFill>
                <a:latin typeface="Arial"/>
                <a:ea typeface="Arial"/>
                <a:cs typeface="Arial"/>
              </a:rPr>
              <a:t>Partner fee share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FA208-4B81-48EE-8243-9980A92F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19375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D2A3A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D2A3A"/>
                </a:solidFill>
              </a:defRPr>
            </a:pPr>
            <a:r>
              <a:rPr sz="1575" b="0">
                <a:solidFill>
                  <a:srgbClr val="1D2A3A"/>
                </a:solidFill>
                <a:latin typeface="Arial"/>
                <a:ea typeface="Arial"/>
                <a:cs typeface="Arial"/>
              </a:rPr>
              <a:t>20% of hypothetical ฿50,000 fee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2A420A-C734-4254-8B04-EA8E532E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619375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875" b="1">
                <a:solidFill>
                  <a:srgbClr val="2F5B99"/>
                </a:solidFill>
              </a:defRPr>
            </a:defPPr>
          </a:lstStyle>
          <a:p xmlns:a="http://schemas.openxmlformats.org/drawingml/2006/main">
            <a:pPr algn="r">
              <a:defRPr sz="1875" b="1">
                <a:solidFill>
                  <a:srgbClr val="2F5B99"/>
                </a:solidFill>
              </a:defRPr>
            </a:pPr>
            <a:r>
              <a:rPr sz="1875" b="1">
                <a:solidFill>
                  <a:srgbClr val="2F5B99"/>
                </a:solidFill>
                <a:latin typeface="Arial"/>
                <a:ea typeface="Arial"/>
                <a:cs typeface="Arial"/>
              </a:rPr>
              <a:t>฿10,000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B9814-873B-4FEA-A7D8-0183BE45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03B68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03B68"/>
                </a:solidFill>
              </a:defRPr>
            </a:pPr>
            <a:r>
              <a:rPr sz="1650" b="1">
                <a:solidFill>
                  <a:srgbClr val="203B68"/>
                </a:solidFill>
                <a:latin typeface="Arial"/>
                <a:ea typeface="Arial"/>
                <a:cs typeface="Arial"/>
              </a:rPr>
              <a:t>Licence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08619-3820-4B7B-B662-A23FEBD7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86150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D2A3A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D2A3A"/>
                </a:solidFill>
              </a:defRPr>
            </a:pPr>
            <a:r>
              <a:rPr sz="1575" b="0">
                <a:solidFill>
                  <a:srgbClr val="1D2A3A"/>
                </a:solidFill>
                <a:latin typeface="Arial"/>
                <a:ea typeface="Arial"/>
                <a:cs typeface="Arial"/>
              </a:rPr>
              <a:t>1 hypothetical annual contract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BAF355-7C07-4ED1-8DE1-8788FA98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48615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875" b="1">
                <a:solidFill>
                  <a:srgbClr val="2F5B99"/>
                </a:solidFill>
              </a:defRPr>
            </a:defPPr>
          </a:lstStyle>
          <a:p xmlns:a="http://schemas.openxmlformats.org/drawingml/2006/main">
            <a:pPr algn="r">
              <a:defRPr sz="1875" b="1">
                <a:solidFill>
                  <a:srgbClr val="2F5B99"/>
                </a:solidFill>
              </a:defRPr>
            </a:pPr>
            <a:r>
              <a:rPr sz="1875" b="1">
                <a:solidFill>
                  <a:srgbClr val="2F5B99"/>
                </a:solidFill>
                <a:latin typeface="Arial"/>
                <a:ea typeface="Arial"/>
                <a:cs typeface="Arial"/>
              </a:rPr>
              <a:t>฿250,000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DE8CC-C41B-45E1-9BB8-467DA37A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B68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03B68"/>
                </a:solidFill>
              </a:defRPr>
            </a:pPr>
            <a:r>
              <a:rPr sz="3600" b="1">
                <a:solidFill>
                  <a:srgbClr val="203B68"/>
                </a:solidFill>
                <a:latin typeface="Arial"/>
                <a:ea typeface="Arial"/>
                <a:cs typeface="Arial"/>
              </a:rPr>
              <a:t>฿438,800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99ABAF-4825-4A97-8B42-D71BE76F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E6A79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E6A79"/>
                </a:solidFill>
              </a:defRPr>
            </a:pPr>
            <a:r>
              <a:rPr sz="1500" b="0">
                <a:solidFill>
                  <a:srgbClr val="5E6A79"/>
                </a:solidFill>
                <a:latin typeface="Arial"/>
                <a:ea typeface="Arial"/>
                <a:cs typeface="Arial"/>
              </a:rPr>
              <a:t>combined gross if every gate passes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B73D42-1F00-42DC-AAC8-F1F51326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D2A3A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D2A3A"/>
                </a:solidFill>
              </a:defRPr>
            </a:pPr>
            <a:r>
              <a:rPr sz="1575" b="0">
                <a:solidFill>
                  <a:srgbClr val="1D2A3A"/>
                </a:solidFill>
                <a:latin typeface="Arial"/>
                <a:ea typeface="Arial"/>
                <a:cs typeface="Arial"/>
              </a:rPr>
              <a:t>฿1.5m hypothetical annual cost  ·  ฿1,061,200 gap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96D4AC-4FC6-4CF8-8112-71DA9855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3875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575" b="1">
                <a:solidFill>
                  <a:srgbClr val="D6A332"/>
                </a:solidFill>
              </a:defRPr>
            </a:defPPr>
          </a:lstStyle>
          <a:p xmlns:a="http://schemas.openxmlformats.org/drawingml/2006/main">
            <a:pPr algn="r">
              <a:defRPr sz="1575" b="1">
                <a:solidFill>
                  <a:srgbClr val="D6A332"/>
                </a:solidFill>
              </a:defRPr>
            </a:pPr>
            <a:r>
              <a:rPr sz="1575" b="1">
                <a:solidFill>
                  <a:srgbClr val="D6A332"/>
                </a:solidFill>
                <a:latin typeface="Arial"/>
                <a:ea typeface="Arial"/>
                <a:cs typeface="Arial"/>
              </a:rPr>
              <a:t>Actual revenue: ฿0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9FA080-D0C2-4F2A-8B47-F8F3DED5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E6A79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E6A79"/>
                </a:solidFill>
              </a:defRPr>
            </a:pPr>
            <a:r>
              <a:rPr sz="975" b="0">
                <a:solidFill>
                  <a:srgbClr val="5E6A79"/>
                </a:solidFill>
                <a:latin typeface="Arial"/>
                <a:ea typeface="Arial"/>
                <a:cs typeface="Arial"/>
              </a:rPr>
              <a:t>BABYFUND THAILAND  ·  SIMULATED BA CASE STUDY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602FA8-9784-4D78-8D85-01104D6A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0">
                <a:solidFill>
                  <a:srgbClr val="5E6A79"/>
                </a:solidFill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E6A79"/>
                </a:solidFill>
              </a:defRPr>
            </a:pPr>
            <a:r>
              <a:rPr sz="1050" b="0">
                <a:solidFill>
                  <a:srgbClr val="5E6A79"/>
                </a:solidFill>
                <a:latin typeface="Arial"/>
                <a:ea typeface="Arial"/>
                <a:cs typeface="Arial"/>
              </a:rPr>
              <a:t>08 / 10</a:t>
            </a:r>
          </a:p>
        </p:txBody>
      </p:sp>
    </p:spTree>
    <p:extLst>
      <p:ext uri="{BB962C8B-B14F-4D97-AF65-F5344CB8AC3E}">
        <p14:creationId xmlns:p14="http://schemas.microsoft.com/office/powerpoint/2010/main" val="18871713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56B012-C28E-429E-A71F-C769FDC8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D6A332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D6A332"/>
                </a:solidFill>
              </a:defRPr>
            </a:pPr>
            <a:r>
              <a:rPr sz="1125" b="1">
                <a:solidFill>
                  <a:srgbClr val="D6A332"/>
                </a:solidFill>
                <a:latin typeface="Arial"/>
                <a:ea typeface="Arial"/>
                <a:cs typeface="Arial"/>
              </a:rPr>
              <a:t>ILLUSTRATIVE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22A1A-B34B-47CA-84A5-6D088723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B68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3B68"/>
                </a:solidFill>
              </a:defRPr>
            </a:pPr>
            <a:r>
              <a:rPr sz="2850" b="1">
                <a:solidFill>
                  <a:srgbClr val="203B68"/>
                </a:solidFill>
                <a:latin typeface="Arial"/>
                <a:ea typeface="Arial"/>
                <a:cs typeface="Arial"/>
              </a:rPr>
              <a:t>A delivery sequence needs evidence at each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C6783-D9B6-4644-9E3B-21C04CA7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5B99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F5B99"/>
                </a:solidFill>
              </a:defRPr>
            </a:pPr>
            <a:r>
              <a:rPr sz="1875" b="1">
                <a:solidFill>
                  <a:srgbClr val="2F5B99"/>
                </a:solidFill>
                <a:latin typeface="Arial"/>
                <a:ea typeface="Arial"/>
                <a:cs typeface="Arial"/>
              </a:rPr>
              <a:t>B1–B4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8671F-6820-4431-90DA-2E22BA3C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7716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D2A3A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D2A3A"/>
                </a:solidFill>
              </a:defRPr>
            </a:pPr>
            <a:r>
              <a:rPr sz="1800" b="0">
                <a:solidFill>
                  <a:srgbClr val="1D2A3A"/>
                </a:solidFill>
                <a:latin typeface="Arial"/>
                <a:ea typeface="Arial"/>
                <a:cs typeface="Arial"/>
              </a:rPr>
              <a:t>Discovery and partner feasibility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95005-5AD5-4A11-B31D-E69D1D2E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1275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5B99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F5B99"/>
                </a:solidFill>
              </a:defRPr>
            </a:pPr>
            <a:r>
              <a:rPr sz="1875" b="1">
                <a:solidFill>
                  <a:srgbClr val="2F5B99"/>
                </a:solidFill>
                <a:latin typeface="Arial"/>
                <a:ea typeface="Arial"/>
                <a:cs typeface="Arial"/>
              </a:rPr>
              <a:t>B4–B6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EF380-F574-49A5-92B1-77522782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81275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D2A3A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D2A3A"/>
                </a:solidFill>
              </a:defRPr>
            </a:pPr>
            <a:r>
              <a:rPr sz="1800" b="0">
                <a:solidFill>
                  <a:srgbClr val="1D2A3A"/>
                </a:solidFill>
                <a:latin typeface="Arial"/>
                <a:ea typeface="Arial"/>
                <a:cs typeface="Arial"/>
              </a:rPr>
              <a:t>Requirements and design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6C130-A86A-4D3D-8AC7-A6EEEBB5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5B99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F5B99"/>
                </a:solidFill>
              </a:defRPr>
            </a:pPr>
            <a:r>
              <a:rPr sz="1875" b="1">
                <a:solidFill>
                  <a:srgbClr val="2F5B99"/>
                </a:solidFill>
                <a:latin typeface="Arial"/>
                <a:ea typeface="Arial"/>
                <a:cs typeface="Arial"/>
              </a:rPr>
              <a:t>B6–B11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E0A97-7869-41CC-90F6-469AF23C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909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D2A3A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D2A3A"/>
                </a:solidFill>
              </a:defRPr>
            </a:pPr>
            <a:r>
              <a:rPr sz="1800" b="0">
                <a:solidFill>
                  <a:srgbClr val="1D2A3A"/>
                </a:solidFill>
                <a:latin typeface="Arial"/>
                <a:ea typeface="Arial"/>
                <a:cs typeface="Arial"/>
              </a:rPr>
              <a:t>Two proposed build phases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0019E-B151-4471-9E29-E0C1118F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5B99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F5B99"/>
                </a:solidFill>
              </a:defRPr>
            </a:pPr>
            <a:r>
              <a:rPr sz="1875" b="1">
                <a:solidFill>
                  <a:srgbClr val="2F5B99"/>
                </a:solidFill>
                <a:latin typeface="Arial"/>
                <a:ea typeface="Arial"/>
                <a:cs typeface="Arial"/>
              </a:rPr>
              <a:t>B11–B13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93CAF-86DB-45EE-9B15-F7477E85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200525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D2A3A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D2A3A"/>
                </a:solidFill>
              </a:defRPr>
            </a:pPr>
            <a:r>
              <a:rPr sz="1800" b="0">
                <a:solidFill>
                  <a:srgbClr val="1D2A3A"/>
                </a:solidFill>
                <a:latin typeface="Arial"/>
                <a:ea typeface="Arial"/>
                <a:cs typeface="Arial"/>
              </a:rPr>
              <a:t>Testing and UAT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AE6FFC-86F9-4077-A720-A91721D8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5B99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F5B99"/>
                </a:solidFill>
              </a:defRPr>
            </a:pPr>
            <a:r>
              <a:rPr sz="1875" b="1">
                <a:solidFill>
                  <a:srgbClr val="2F5B99"/>
                </a:solidFill>
                <a:latin typeface="Arial"/>
                <a:ea typeface="Arial"/>
                <a:cs typeface="Arial"/>
              </a:rPr>
              <a:t>B13–B14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5E252-62DC-4448-A974-1F945B07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0101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D2A3A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D2A3A"/>
                </a:solidFill>
              </a:defRPr>
            </a:pPr>
            <a:r>
              <a:rPr sz="1800" b="0">
                <a:solidFill>
                  <a:srgbClr val="1D2A3A"/>
                </a:solidFill>
                <a:latin typeface="Arial"/>
                <a:ea typeface="Arial"/>
                <a:cs typeface="Arial"/>
              </a:rPr>
              <a:t>Launch gate, only if approved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B10304-FE5B-4125-96D2-7944CDED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E6A79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E6A79"/>
                </a:solidFill>
              </a:defRPr>
            </a:pPr>
            <a:r>
              <a:rPr sz="1425" b="0">
                <a:solidFill>
                  <a:srgbClr val="5E6A79"/>
                </a:solidFill>
                <a:latin typeface="Arial"/>
                <a:ea typeface="Arial"/>
                <a:cs typeface="Arial"/>
              </a:rPr>
              <a:t>Each B is a four-week block. This is a scenario, not an approved schedule.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825547-B709-4C02-BDFF-049CF922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E6A79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E6A79"/>
                </a:solidFill>
              </a:defRPr>
            </a:pPr>
            <a:r>
              <a:rPr sz="975" b="0">
                <a:solidFill>
                  <a:srgbClr val="5E6A79"/>
                </a:solidFill>
                <a:latin typeface="Arial"/>
                <a:ea typeface="Arial"/>
                <a:cs typeface="Arial"/>
              </a:rPr>
              <a:t>BABYFUND THAILAND  ·  SIMULATED BA CASE STUDY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A0257B-7FA3-4599-8FDA-092C68B1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0">
                <a:solidFill>
                  <a:srgbClr val="5E6A79"/>
                </a:solidFill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E6A79"/>
                </a:solidFill>
              </a:defRPr>
            </a:pPr>
            <a:r>
              <a:rPr sz="1050" b="0">
                <a:solidFill>
                  <a:srgbClr val="5E6A79"/>
                </a:solidFill>
                <a:latin typeface="Arial"/>
                <a:ea typeface="Arial"/>
                <a:cs typeface="Arial"/>
              </a:rPr>
              <a:t>09 / 10</a:t>
            </a:r>
          </a:p>
        </p:txBody>
      </p:sp>
    </p:spTree>
    <p:extLst>
      <p:ext uri="{BB962C8B-B14F-4D97-AF65-F5344CB8AC3E}">
        <p14:creationId xmlns:p14="http://schemas.microsoft.com/office/powerpoint/2010/main" val="5615100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62D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0E1B22-5182-40C6-868A-CCABA73A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this portfolio demonstrates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B61C2-5280-43C5-98F6-E1AC4747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477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Requirements connect to a process, screen states and test cases.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54B08-E16E-4352-9117-B6E6981D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382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DDE8F5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DDE8F5"/>
                </a:solidFill>
              </a:defRPr>
            </a:pPr>
            <a:r>
              <a:rPr sz="2025" b="0">
                <a:solidFill>
                  <a:srgbClr val="DDE8F5"/>
                </a:solidFill>
                <a:latin typeface="Arial"/>
                <a:ea typeface="Arial"/>
                <a:cs typeface="Arial"/>
              </a:rPr>
              <a:t>The case separates confirmed facts, sample calculations, proposals and unanswered partner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C150D-BCD2-4044-9561-1B60DE5C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D6A332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D6A332"/>
                </a:solidFill>
              </a:defRPr>
            </a:pPr>
            <a:r>
              <a:rPr sz="1800" b="1">
                <a:solidFill>
                  <a:srgbClr val="D6A332"/>
                </a:solidFill>
                <a:latin typeface="Arial"/>
                <a:ea typeface="Arial"/>
                <a:cs typeface="Arial"/>
              </a:rPr>
              <a:t>Next: validate guest payment feasibility and test the problem with parents and contributors.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7616D-DB3D-4917-998F-C88996AD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9C9DF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9C9DF"/>
                </a:solidFill>
              </a:defRPr>
            </a:pPr>
            <a:r>
              <a:rPr sz="1350" b="0">
                <a:solidFill>
                  <a:srgbClr val="B9C9DF"/>
                </a:solidFill>
                <a:latin typeface="Arial"/>
                <a:ea typeface="Arial"/>
                <a:cs typeface="Arial"/>
              </a:rPr>
              <a:t>Tankhun Luengchaicharn  ·  Junior IT BA portfolio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15A23-B875-4FC0-93C4-C7D17AD8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B9C9DF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B9C9DF"/>
                </a:solidFill>
              </a:defRPr>
            </a:pPr>
            <a:r>
              <a:rPr sz="975" b="0">
                <a:solidFill>
                  <a:srgbClr val="B9C9DF"/>
                </a:solidFill>
                <a:latin typeface="Arial"/>
                <a:ea typeface="Arial"/>
                <a:cs typeface="Arial"/>
              </a:rPr>
              <a:t>BABYFUND THAILAND  ·  SIMULATED BA CASE STUDY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BEF18-192C-495C-B461-5BB31CC3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0">
                <a:solidFill>
                  <a:srgbClr val="B9C9DF"/>
                </a:solidFill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B9C9DF"/>
                </a:solidFill>
              </a:defRPr>
            </a:pPr>
            <a:r>
              <a:rPr sz="1050" b="0">
                <a:solidFill>
                  <a:srgbClr val="B9C9DF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15752146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2026-10-11T09:43:59.0910000Z</dcterms:created>
  <dcterms:modified xsi:type="dcterms:W3CDTF">2026-10-11T09:43:59.0920000Z</dcterms:modified>
</coreProperties>
</file>